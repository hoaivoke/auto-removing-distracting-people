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35599E-203C-4D7C-A26D-9DDA6F21E7C8}">
  <a:tblStyle styleId="{0C35599E-203C-4D7C-A26D-9DDA6F21E7C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11" Type="http://schemas.openxmlformats.org/officeDocument/2006/relationships/slide" Target="slides/slide5.xml"/><Relationship Id="rId22" Type="http://schemas.openxmlformats.org/officeDocument/2006/relationships/font" Target="fonts/RobotoMono-boldItalic.fntdata"/><Relationship Id="rId10" Type="http://schemas.openxmlformats.org/officeDocument/2006/relationships/slide" Target="slides/slide4.xml"/><Relationship Id="rId21" Type="http://schemas.openxmlformats.org/officeDocument/2006/relationships/font" Target="fonts/RobotoMono-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Mono-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4ac192372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4ac19237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4ac192372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4ac192372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4ac192372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4ac192372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4ca3bac4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4ca3bac4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4ac192372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4ac19237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4cbf29570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4cbf29570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4cbf2957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4cbf2957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4ca3bac4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4ca3bac4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4ca3bac4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4ca3bac4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4ca3bac4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4ca3bac4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4c7c4e2b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4c7c4e2b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Final Project: Auto Removing Distracting People</a:t>
            </a:r>
            <a:endParaRPr/>
          </a:p>
        </p:txBody>
      </p:sp>
      <p:sp>
        <p:nvSpPr>
          <p:cNvPr id="55" name="Google Shape;55;p13"/>
          <p:cNvSpPr txBox="1"/>
          <p:nvPr>
            <p:ph idx="1" type="subTitle"/>
          </p:nvPr>
        </p:nvSpPr>
        <p:spPr>
          <a:xfrm>
            <a:off x="311700" y="2797175"/>
            <a:ext cx="8520600" cy="1117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vi"/>
              <a:t>Proposed: Nguyễn Vĩnh Tiệp</a:t>
            </a:r>
            <a:endParaRPr/>
          </a:p>
          <a:p>
            <a:pPr indent="0" lvl="0" marL="0" rtl="0" algn="ctr">
              <a:spcBef>
                <a:spcPts val="0"/>
              </a:spcBef>
              <a:spcAft>
                <a:spcPts val="0"/>
              </a:spcAft>
              <a:buNone/>
            </a:pPr>
            <a:r>
              <a:rPr lang="vi"/>
              <a:t>Member: Phạm Quốc Bình - Võ Kế Hoài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Contents</a:t>
            </a:r>
            <a:endParaRPr/>
          </a:p>
        </p:txBody>
      </p:sp>
      <p:sp>
        <p:nvSpPr>
          <p:cNvPr id="61" name="Google Shape;61;p14"/>
          <p:cNvSpPr txBox="1"/>
          <p:nvPr>
            <p:ph idx="1" type="subTitle"/>
          </p:nvPr>
        </p:nvSpPr>
        <p:spPr>
          <a:xfrm>
            <a:off x="311700" y="1106275"/>
            <a:ext cx="8520600" cy="4037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AutoNum type="arabicPeriod"/>
            </a:pPr>
            <a:r>
              <a:rPr lang="vi" sz="2000"/>
              <a:t>Introduction</a:t>
            </a:r>
            <a:endParaRPr sz="2000"/>
          </a:p>
          <a:p>
            <a:pPr indent="0" lvl="0" marL="0" rtl="0" algn="l">
              <a:lnSpc>
                <a:spcPct val="115000"/>
              </a:lnSpc>
              <a:spcBef>
                <a:spcPts val="0"/>
              </a:spcBef>
              <a:spcAft>
                <a:spcPts val="0"/>
              </a:spcAft>
              <a:buNone/>
            </a:pPr>
            <a:r>
              <a:rPr lang="vi" sz="2000"/>
              <a:t> 1.1 </a:t>
            </a:r>
            <a:r>
              <a:rPr lang="vi" sz="2000"/>
              <a:t>Problem Definition</a:t>
            </a:r>
            <a:endParaRPr sz="2000"/>
          </a:p>
          <a:p>
            <a:pPr indent="0" lvl="0" marL="0" rtl="0" algn="l">
              <a:lnSpc>
                <a:spcPct val="115000"/>
              </a:lnSpc>
              <a:spcBef>
                <a:spcPts val="0"/>
              </a:spcBef>
              <a:spcAft>
                <a:spcPts val="0"/>
              </a:spcAft>
              <a:buNone/>
            </a:pPr>
            <a:r>
              <a:rPr lang="vi" sz="2000"/>
              <a:t> 1.2 Objectives</a:t>
            </a:r>
            <a:endParaRPr sz="2000"/>
          </a:p>
          <a:p>
            <a:pPr indent="-355600" lvl="0" marL="457200" rtl="0" algn="l">
              <a:lnSpc>
                <a:spcPct val="115000"/>
              </a:lnSpc>
              <a:spcBef>
                <a:spcPts val="0"/>
              </a:spcBef>
              <a:spcAft>
                <a:spcPts val="0"/>
              </a:spcAft>
              <a:buSzPts val="2000"/>
              <a:buAutoNum type="arabicPeriod"/>
            </a:pPr>
            <a:r>
              <a:rPr lang="vi" sz="2000"/>
              <a:t>Proposed Solution Overview</a:t>
            </a:r>
            <a:endParaRPr sz="2000"/>
          </a:p>
          <a:p>
            <a:pPr indent="0" lvl="0" marL="0" rtl="0" algn="l">
              <a:lnSpc>
                <a:spcPct val="115000"/>
              </a:lnSpc>
              <a:spcBef>
                <a:spcPts val="0"/>
              </a:spcBef>
              <a:spcAft>
                <a:spcPts val="0"/>
              </a:spcAft>
              <a:buNone/>
            </a:pPr>
            <a:r>
              <a:rPr lang="vi" sz="2000"/>
              <a:t> 2.1 System Workflow</a:t>
            </a:r>
            <a:endParaRPr sz="2000"/>
          </a:p>
          <a:p>
            <a:pPr indent="0" lvl="0" marL="0" rtl="0" algn="l">
              <a:lnSpc>
                <a:spcPct val="115000"/>
              </a:lnSpc>
              <a:spcBef>
                <a:spcPts val="0"/>
              </a:spcBef>
              <a:spcAft>
                <a:spcPts val="0"/>
              </a:spcAft>
              <a:buNone/>
            </a:pPr>
            <a:r>
              <a:rPr lang="vi" sz="2000"/>
              <a:t> 2.2 Model Components and Pipeline</a:t>
            </a:r>
            <a:endParaRPr sz="2000"/>
          </a:p>
          <a:p>
            <a:pPr indent="-355600" lvl="0" marL="457200" rtl="0" algn="l">
              <a:lnSpc>
                <a:spcPct val="115000"/>
              </a:lnSpc>
              <a:spcBef>
                <a:spcPts val="0"/>
              </a:spcBef>
              <a:spcAft>
                <a:spcPts val="0"/>
              </a:spcAft>
              <a:buSzPts val="2000"/>
              <a:buAutoNum type="arabicPeriod"/>
            </a:pPr>
            <a:r>
              <a:rPr lang="vi" sz="2000"/>
              <a:t>Experiments and Results</a:t>
            </a:r>
            <a:endParaRPr sz="2000"/>
          </a:p>
          <a:p>
            <a:pPr indent="0" lvl="0" marL="0" rtl="0" algn="l">
              <a:lnSpc>
                <a:spcPct val="115000"/>
              </a:lnSpc>
              <a:spcBef>
                <a:spcPts val="0"/>
              </a:spcBef>
              <a:spcAft>
                <a:spcPts val="0"/>
              </a:spcAft>
              <a:buNone/>
            </a:pPr>
            <a:r>
              <a:rPr lang="vi" sz="2000"/>
              <a:t> 3.1 Evaluation Metrics (Mask AP)</a:t>
            </a:r>
            <a:endParaRPr sz="2000"/>
          </a:p>
          <a:p>
            <a:pPr indent="0" lvl="0" marL="0" rtl="0" algn="l">
              <a:lnSpc>
                <a:spcPct val="115000"/>
              </a:lnSpc>
              <a:spcBef>
                <a:spcPts val="0"/>
              </a:spcBef>
              <a:spcAft>
                <a:spcPts val="0"/>
              </a:spcAft>
              <a:buNone/>
            </a:pPr>
            <a:r>
              <a:rPr lang="vi" sz="2000"/>
              <a:t> 3.2 Comparison: Pretrained vs Fine-Tuned Model</a:t>
            </a:r>
            <a:endParaRPr sz="2000"/>
          </a:p>
          <a:p>
            <a:pPr indent="0" lvl="0" marL="0" rtl="0" algn="l">
              <a:lnSpc>
                <a:spcPct val="115000"/>
              </a:lnSpc>
              <a:spcBef>
                <a:spcPts val="0"/>
              </a:spcBef>
              <a:spcAft>
                <a:spcPts val="0"/>
              </a:spcAft>
              <a:buNone/>
            </a:pPr>
            <a:r>
              <a:rPr lang="vi" sz="2000"/>
              <a:t> 3.3 Visual Results and Analysis</a:t>
            </a:r>
            <a:endParaRPr sz="2000"/>
          </a:p>
          <a:p>
            <a:pPr indent="-355600" lvl="0" marL="457200" rtl="0" algn="l">
              <a:lnSpc>
                <a:spcPct val="115000"/>
              </a:lnSpc>
              <a:spcBef>
                <a:spcPts val="0"/>
              </a:spcBef>
              <a:spcAft>
                <a:spcPts val="0"/>
              </a:spcAft>
              <a:buSzPts val="2000"/>
              <a:buAutoNum type="arabicPeriod"/>
            </a:pPr>
            <a:r>
              <a:rPr lang="vi" sz="2000"/>
              <a:t>Future Work</a:t>
            </a:r>
            <a:endParaRPr sz="2000"/>
          </a:p>
        </p:txBody>
      </p:sp>
      <p:cxnSp>
        <p:nvCxnSpPr>
          <p:cNvPr id="62" name="Google Shape;62;p14"/>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Introduction</a:t>
            </a:r>
            <a:endParaRPr/>
          </a:p>
        </p:txBody>
      </p:sp>
      <p:sp>
        <p:nvSpPr>
          <p:cNvPr id="68" name="Google Shape;68;p15"/>
          <p:cNvSpPr txBox="1"/>
          <p:nvPr>
            <p:ph idx="1" type="subTitle"/>
          </p:nvPr>
        </p:nvSpPr>
        <p:spPr>
          <a:xfrm>
            <a:off x="290100" y="1110050"/>
            <a:ext cx="8542200" cy="23592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vi" sz="1400"/>
              <a:t>Problem Overview: </a:t>
            </a:r>
            <a:endParaRPr sz="1400"/>
          </a:p>
          <a:p>
            <a:pPr indent="-317500" lvl="0" marL="457200" rtl="0" algn="l">
              <a:lnSpc>
                <a:spcPct val="100000"/>
              </a:lnSpc>
              <a:spcBef>
                <a:spcPts val="1200"/>
              </a:spcBef>
              <a:spcAft>
                <a:spcPts val="0"/>
              </a:spcAft>
              <a:buSzPts val="1400"/>
              <a:buChar char="-"/>
            </a:pPr>
            <a:r>
              <a:rPr lang="vi" sz="1400"/>
              <a:t>In many images, background people can be visually distracting and reduce image quality or focus. Our goal is to automatically detect and remove those distracting people while keeping the main subject intact.</a:t>
            </a:r>
            <a:endParaRPr sz="1400"/>
          </a:p>
          <a:p>
            <a:pPr indent="0" lvl="0" marL="0" rtl="0" algn="l">
              <a:lnSpc>
                <a:spcPct val="100000"/>
              </a:lnSpc>
              <a:spcBef>
                <a:spcPts val="1200"/>
              </a:spcBef>
              <a:spcAft>
                <a:spcPts val="0"/>
              </a:spcAft>
              <a:buNone/>
            </a:pPr>
            <a:r>
              <a:rPr lang="vi" sz="1400"/>
              <a:t>Objective:</a:t>
            </a:r>
            <a:endParaRPr sz="1400"/>
          </a:p>
          <a:p>
            <a:pPr indent="-317500" lvl="0" marL="457200" rtl="0" algn="l">
              <a:lnSpc>
                <a:spcPct val="100000"/>
              </a:lnSpc>
              <a:spcBef>
                <a:spcPts val="1200"/>
              </a:spcBef>
              <a:spcAft>
                <a:spcPts val="0"/>
              </a:spcAft>
              <a:buSzPts val="1400"/>
              <a:buChar char="-"/>
            </a:pPr>
            <a:r>
              <a:rPr lang="vi" sz="1400"/>
              <a:t>Detect the main person in the image.</a:t>
            </a:r>
            <a:endParaRPr sz="1400"/>
          </a:p>
          <a:p>
            <a:pPr indent="-317500" lvl="0" marL="457200" rtl="0" algn="l">
              <a:lnSpc>
                <a:spcPct val="100000"/>
              </a:lnSpc>
              <a:spcBef>
                <a:spcPts val="0"/>
              </a:spcBef>
              <a:spcAft>
                <a:spcPts val="0"/>
              </a:spcAft>
              <a:buSzPts val="1400"/>
              <a:buChar char="-"/>
            </a:pPr>
            <a:r>
              <a:rPr lang="vi" sz="1400"/>
              <a:t>Identify and remove all other people in the background.</a:t>
            </a:r>
            <a:endParaRPr sz="1400"/>
          </a:p>
          <a:p>
            <a:pPr indent="-317500" lvl="0" marL="457200" rtl="0" algn="l">
              <a:lnSpc>
                <a:spcPct val="100000"/>
              </a:lnSpc>
              <a:spcBef>
                <a:spcPts val="0"/>
              </a:spcBef>
              <a:spcAft>
                <a:spcPts val="0"/>
              </a:spcAft>
              <a:buSzPts val="1400"/>
              <a:buChar char="-"/>
            </a:pPr>
            <a:r>
              <a:rPr lang="vi" sz="1400"/>
              <a:t>Restore the background naturally using inpainting.</a:t>
            </a:r>
            <a:endParaRPr sz="1400"/>
          </a:p>
        </p:txBody>
      </p:sp>
      <p:cxnSp>
        <p:nvCxnSpPr>
          <p:cNvPr id="69" name="Google Shape;69;p15"/>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pic>
        <p:nvPicPr>
          <p:cNvPr id="70" name="Google Shape;70;p15"/>
          <p:cNvPicPr preferRelativeResize="0"/>
          <p:nvPr/>
        </p:nvPicPr>
        <p:blipFill>
          <a:blip r:embed="rId3">
            <a:alphaModFix/>
          </a:blip>
          <a:stretch>
            <a:fillRect/>
          </a:stretch>
        </p:blipFill>
        <p:spPr>
          <a:xfrm>
            <a:off x="189939" y="3387250"/>
            <a:ext cx="2235801" cy="1750550"/>
          </a:xfrm>
          <a:prstGeom prst="rect">
            <a:avLst/>
          </a:prstGeom>
          <a:noFill/>
          <a:ln>
            <a:noFill/>
          </a:ln>
        </p:spPr>
      </p:pic>
      <p:pic>
        <p:nvPicPr>
          <p:cNvPr id="71" name="Google Shape;71;p15"/>
          <p:cNvPicPr preferRelativeResize="0"/>
          <p:nvPr/>
        </p:nvPicPr>
        <p:blipFill>
          <a:blip r:embed="rId4">
            <a:alphaModFix/>
          </a:blip>
          <a:stretch>
            <a:fillRect/>
          </a:stretch>
        </p:blipFill>
        <p:spPr>
          <a:xfrm>
            <a:off x="2425742" y="3387250"/>
            <a:ext cx="2199172" cy="1750551"/>
          </a:xfrm>
          <a:prstGeom prst="rect">
            <a:avLst/>
          </a:prstGeom>
          <a:noFill/>
          <a:ln>
            <a:noFill/>
          </a:ln>
        </p:spPr>
      </p:pic>
      <p:pic>
        <p:nvPicPr>
          <p:cNvPr id="72" name="Google Shape;72;p15"/>
          <p:cNvPicPr preferRelativeResize="0"/>
          <p:nvPr/>
        </p:nvPicPr>
        <p:blipFill>
          <a:blip r:embed="rId5">
            <a:alphaModFix/>
          </a:blip>
          <a:stretch>
            <a:fillRect/>
          </a:stretch>
        </p:blipFill>
        <p:spPr>
          <a:xfrm>
            <a:off x="4624913" y="3387250"/>
            <a:ext cx="2167358" cy="1750550"/>
          </a:xfrm>
          <a:prstGeom prst="rect">
            <a:avLst/>
          </a:prstGeom>
          <a:noFill/>
          <a:ln>
            <a:noFill/>
          </a:ln>
        </p:spPr>
      </p:pic>
      <p:pic>
        <p:nvPicPr>
          <p:cNvPr id="73" name="Google Shape;73;p15"/>
          <p:cNvPicPr preferRelativeResize="0"/>
          <p:nvPr/>
        </p:nvPicPr>
        <p:blipFill>
          <a:blip r:embed="rId6">
            <a:alphaModFix/>
          </a:blip>
          <a:stretch>
            <a:fillRect/>
          </a:stretch>
        </p:blipFill>
        <p:spPr>
          <a:xfrm>
            <a:off x="6792262" y="3381546"/>
            <a:ext cx="2167350" cy="17619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Proposed Solution Overview</a:t>
            </a:r>
            <a:endParaRPr/>
          </a:p>
        </p:txBody>
      </p:sp>
      <p:cxnSp>
        <p:nvCxnSpPr>
          <p:cNvPr id="79" name="Google Shape;79;p16"/>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sp>
        <p:nvSpPr>
          <p:cNvPr id="80" name="Google Shape;80;p16"/>
          <p:cNvSpPr txBox="1"/>
          <p:nvPr/>
        </p:nvSpPr>
        <p:spPr>
          <a:xfrm>
            <a:off x="303675" y="1219950"/>
            <a:ext cx="30000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vi" sz="2000">
                <a:solidFill>
                  <a:schemeClr val="lt2"/>
                </a:solidFill>
              </a:rPr>
              <a:t>System Workflow</a:t>
            </a:r>
            <a:endParaRPr/>
          </a:p>
        </p:txBody>
      </p:sp>
      <p:pic>
        <p:nvPicPr>
          <p:cNvPr id="81" name="Google Shape;81;p16"/>
          <p:cNvPicPr preferRelativeResize="0"/>
          <p:nvPr/>
        </p:nvPicPr>
        <p:blipFill>
          <a:blip r:embed="rId3">
            <a:alphaModFix/>
          </a:blip>
          <a:stretch>
            <a:fillRect/>
          </a:stretch>
        </p:blipFill>
        <p:spPr>
          <a:xfrm>
            <a:off x="76200" y="1927300"/>
            <a:ext cx="8991601" cy="18483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Proposed Solution Overview</a:t>
            </a:r>
            <a:endParaRPr/>
          </a:p>
        </p:txBody>
      </p:sp>
      <p:cxnSp>
        <p:nvCxnSpPr>
          <p:cNvPr id="87" name="Google Shape;87;p17"/>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sp>
        <p:nvSpPr>
          <p:cNvPr id="88" name="Google Shape;88;p17"/>
          <p:cNvSpPr txBox="1"/>
          <p:nvPr/>
        </p:nvSpPr>
        <p:spPr>
          <a:xfrm>
            <a:off x="303675" y="1219950"/>
            <a:ext cx="47448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vi" sz="2000">
                <a:solidFill>
                  <a:schemeClr val="lt2"/>
                </a:solidFill>
              </a:rPr>
              <a:t> Model Components and Pipeline</a:t>
            </a:r>
            <a:endParaRPr/>
          </a:p>
        </p:txBody>
      </p:sp>
      <p:sp>
        <p:nvSpPr>
          <p:cNvPr id="89" name="Google Shape;89;p17"/>
          <p:cNvSpPr txBox="1"/>
          <p:nvPr/>
        </p:nvSpPr>
        <p:spPr>
          <a:xfrm>
            <a:off x="311700" y="1767275"/>
            <a:ext cx="8520600" cy="318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vi">
                <a:solidFill>
                  <a:srgbClr val="9E9E9E"/>
                </a:solidFill>
              </a:rPr>
              <a:t>Model Components Explanation:</a:t>
            </a:r>
            <a:endParaRPr b="1">
              <a:solidFill>
                <a:srgbClr val="9E9E9E"/>
              </a:solidFill>
            </a:endParaRPr>
          </a:p>
          <a:p>
            <a:pPr indent="-317500" lvl="0" marL="457200" rtl="0" algn="l">
              <a:lnSpc>
                <a:spcPct val="115000"/>
              </a:lnSpc>
              <a:spcBef>
                <a:spcPts val="1200"/>
              </a:spcBef>
              <a:spcAft>
                <a:spcPts val="0"/>
              </a:spcAft>
              <a:buClr>
                <a:srgbClr val="9E9E9E"/>
              </a:buClr>
              <a:buSzPts val="1400"/>
              <a:buChar char="●"/>
            </a:pPr>
            <a:r>
              <a:rPr b="1" lang="vi">
                <a:solidFill>
                  <a:srgbClr val="9E9E9E"/>
                </a:solidFill>
              </a:rPr>
              <a:t>Component 1: Object Detection Network</a:t>
            </a:r>
            <a:r>
              <a:rPr lang="vi">
                <a:solidFill>
                  <a:srgbClr val="9E9E9E"/>
                </a:solidFill>
              </a:rPr>
              <a:t> — detects the all people.</a:t>
            </a:r>
            <a:br>
              <a:rPr lang="vi">
                <a:solidFill>
                  <a:srgbClr val="9E9E9E"/>
                </a:solidFill>
              </a:rPr>
            </a:br>
            <a:endParaRPr>
              <a:solidFill>
                <a:srgbClr val="9E9E9E"/>
              </a:solidFill>
            </a:endParaRPr>
          </a:p>
          <a:p>
            <a:pPr indent="-317500" lvl="0" marL="457200" rtl="0" algn="l">
              <a:lnSpc>
                <a:spcPct val="115000"/>
              </a:lnSpc>
              <a:spcBef>
                <a:spcPts val="0"/>
              </a:spcBef>
              <a:spcAft>
                <a:spcPts val="0"/>
              </a:spcAft>
              <a:buClr>
                <a:srgbClr val="9E9E9E"/>
              </a:buClr>
              <a:buSzPts val="1400"/>
              <a:buChar char="●"/>
            </a:pPr>
            <a:r>
              <a:rPr b="1" lang="vi">
                <a:solidFill>
                  <a:srgbClr val="9E9E9E"/>
                </a:solidFill>
              </a:rPr>
              <a:t>Component 2: Instance Segmentation Network</a:t>
            </a:r>
            <a:r>
              <a:rPr lang="vi">
                <a:solidFill>
                  <a:srgbClr val="9E9E9E"/>
                </a:solidFill>
              </a:rPr>
              <a:t> — segments all people individually.</a:t>
            </a:r>
            <a:br>
              <a:rPr lang="vi">
                <a:solidFill>
                  <a:srgbClr val="9E9E9E"/>
                </a:solidFill>
              </a:rPr>
            </a:br>
            <a:endParaRPr>
              <a:solidFill>
                <a:srgbClr val="9E9E9E"/>
              </a:solidFill>
            </a:endParaRPr>
          </a:p>
          <a:p>
            <a:pPr indent="-317500" lvl="0" marL="457200" rtl="0" algn="l">
              <a:lnSpc>
                <a:spcPct val="115000"/>
              </a:lnSpc>
              <a:spcBef>
                <a:spcPts val="0"/>
              </a:spcBef>
              <a:spcAft>
                <a:spcPts val="0"/>
              </a:spcAft>
              <a:buClr>
                <a:srgbClr val="9E9E9E"/>
              </a:buClr>
              <a:buSzPts val="1400"/>
              <a:buChar char="●"/>
            </a:pPr>
            <a:r>
              <a:rPr b="1" lang="vi">
                <a:solidFill>
                  <a:srgbClr val="9E9E9E"/>
                </a:solidFill>
              </a:rPr>
              <a:t>Component 3: Decision Logic</a:t>
            </a:r>
            <a:r>
              <a:rPr lang="vi">
                <a:solidFill>
                  <a:srgbClr val="9E9E9E"/>
                </a:solidFill>
              </a:rPr>
              <a:t> — compares detections, identifies distracting/background people.</a:t>
            </a:r>
            <a:br>
              <a:rPr lang="vi">
                <a:solidFill>
                  <a:srgbClr val="9E9E9E"/>
                </a:solidFill>
              </a:rPr>
            </a:br>
            <a:endParaRPr>
              <a:solidFill>
                <a:srgbClr val="9E9E9E"/>
              </a:solidFill>
            </a:endParaRPr>
          </a:p>
          <a:p>
            <a:pPr indent="-317500" lvl="0" marL="457200" rtl="0" algn="l">
              <a:lnSpc>
                <a:spcPct val="115000"/>
              </a:lnSpc>
              <a:spcBef>
                <a:spcPts val="0"/>
              </a:spcBef>
              <a:spcAft>
                <a:spcPts val="0"/>
              </a:spcAft>
              <a:buClr>
                <a:srgbClr val="9E9E9E"/>
              </a:buClr>
              <a:buSzPts val="1400"/>
              <a:buChar char="●"/>
            </a:pPr>
            <a:r>
              <a:rPr b="1" lang="vi">
                <a:solidFill>
                  <a:srgbClr val="9E9E9E"/>
                </a:solidFill>
              </a:rPr>
              <a:t>Component 4: Inpainting Model</a:t>
            </a:r>
            <a:r>
              <a:rPr lang="vi">
                <a:solidFill>
                  <a:srgbClr val="9E9E9E"/>
                </a:solidFill>
              </a:rPr>
              <a:t> — removes unwanted regions and reconstructs the background.</a:t>
            </a:r>
            <a:endParaRPr>
              <a:solidFill>
                <a:srgbClr val="9E9E9E"/>
              </a:solidFill>
            </a:endParaRPr>
          </a:p>
          <a:p>
            <a:pPr indent="0" lvl="0" marL="0" rtl="0" algn="l">
              <a:lnSpc>
                <a:spcPct val="115000"/>
              </a:lnSpc>
              <a:spcBef>
                <a:spcPts val="1200"/>
              </a:spcBef>
              <a:spcAft>
                <a:spcPts val="1200"/>
              </a:spcAft>
              <a:buNone/>
            </a:pPr>
            <a:r>
              <a:rPr b="1" lang="vi">
                <a:solidFill>
                  <a:srgbClr val="9E9E9E"/>
                </a:solidFill>
              </a:rPr>
              <a:t>Pipeline Explanation:</a:t>
            </a:r>
            <a:br>
              <a:rPr b="1" lang="vi">
                <a:solidFill>
                  <a:srgbClr val="9E9E9E"/>
                </a:solidFill>
              </a:rPr>
            </a:br>
            <a:r>
              <a:rPr lang="vi">
                <a:solidFill>
                  <a:srgbClr val="9E9E9E"/>
                </a:solidFill>
              </a:rPr>
              <a:t> The pipeline shows how data passes between components — e.g., segmentation masks → filtering logic → masked image → inpainting → final result.</a:t>
            </a:r>
            <a:endParaRPr>
              <a:solidFill>
                <a:srgbClr val="9E9E9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Experiments and Results</a:t>
            </a:r>
            <a:endParaRPr/>
          </a:p>
        </p:txBody>
      </p:sp>
      <p:cxnSp>
        <p:nvCxnSpPr>
          <p:cNvPr id="95" name="Google Shape;95;p18"/>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graphicFrame>
        <p:nvGraphicFramePr>
          <p:cNvPr id="96" name="Google Shape;96;p18"/>
          <p:cNvGraphicFramePr/>
          <p:nvPr/>
        </p:nvGraphicFramePr>
        <p:xfrm>
          <a:off x="303675" y="1364275"/>
          <a:ext cx="3000000" cy="3000000"/>
        </p:xfrm>
        <a:graphic>
          <a:graphicData uri="http://schemas.openxmlformats.org/drawingml/2006/table">
            <a:tbl>
              <a:tblPr>
                <a:noFill/>
                <a:tableStyleId>{0C35599E-203C-4D7C-A26D-9DDA6F21E7C8}</a:tableStyleId>
              </a:tblPr>
              <a:tblGrid>
                <a:gridCol w="1260950"/>
                <a:gridCol w="1056325"/>
                <a:gridCol w="1020750"/>
                <a:gridCol w="1138475"/>
                <a:gridCol w="1338925"/>
                <a:gridCol w="1360300"/>
                <a:gridCol w="1366475"/>
              </a:tblGrid>
              <a:tr h="868275">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vi">
                          <a:solidFill>
                            <a:schemeClr val="dk1"/>
                          </a:solidFill>
                        </a:rPr>
                        <a:t>Detection: </a:t>
                      </a:r>
                      <a:r>
                        <a:rPr lang="vi">
                          <a:solidFill>
                            <a:schemeClr val="dk1"/>
                          </a:solidFill>
                        </a:rPr>
                        <a:t>Grounding DINO</a:t>
                      </a:r>
                      <a:endParaRPr>
                        <a:solidFill>
                          <a:schemeClr val="dk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rPr>
                        <a:t>Detection: YOLOv8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Detection: Detrecton2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rPr>
                        <a:t>Segmentation: Sement Anything SAM</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Segmentation: YOLOv8-seg</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Segmentation: Detrecton2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50275">
                <a:tc>
                  <a:txBody>
                    <a:bodyPr/>
                    <a:lstStyle/>
                    <a:p>
                      <a:pPr indent="0" lvl="0" marL="0" rtl="0" algn="l">
                        <a:spcBef>
                          <a:spcPts val="0"/>
                        </a:spcBef>
                        <a:spcAft>
                          <a:spcPts val="0"/>
                        </a:spcAft>
                        <a:buNone/>
                      </a:pPr>
                      <a:r>
                        <a:rPr lang="vi">
                          <a:solidFill>
                            <a:schemeClr val="dk1"/>
                          </a:solidFill>
                        </a:rPr>
                        <a:t>Original mAP50</a:t>
                      </a:r>
                      <a:endParaRPr>
                        <a:solidFill>
                          <a:schemeClr val="dk1"/>
                        </a:solidFill>
                      </a:endParaRPr>
                    </a:p>
                  </a:txBody>
                  <a:tcPr marT="91425" marB="91425" marR="91425" marL="91425"/>
                </a:tc>
                <a:tc>
                  <a:txBody>
                    <a:bodyPr/>
                    <a:lstStyle/>
                    <a:p>
                      <a:pPr indent="0" lvl="0" marL="0" rtl="0" algn="l">
                        <a:lnSpc>
                          <a:spcPct val="170000"/>
                        </a:lnSpc>
                        <a:spcBef>
                          <a:spcPts val="0"/>
                        </a:spcBef>
                        <a:spcAft>
                          <a:spcPts val="0"/>
                        </a:spcAft>
                        <a:buNone/>
                      </a:pPr>
                      <a:r>
                        <a:rPr lang="vi">
                          <a:solidFill>
                            <a:schemeClr val="dk1"/>
                          </a:solidFill>
                        </a:rPr>
                        <a:t>0.4124</a:t>
                      </a:r>
                      <a:endParaRPr>
                        <a:solidFill>
                          <a:schemeClr val="dk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170000"/>
                        </a:lnSpc>
                        <a:spcBef>
                          <a:spcPts val="0"/>
                        </a:spcBef>
                        <a:spcAft>
                          <a:spcPts val="0"/>
                        </a:spcAft>
                        <a:buNone/>
                      </a:pPr>
                      <a:r>
                        <a:rPr lang="vi">
                          <a:solidFill>
                            <a:schemeClr val="dk1"/>
                          </a:solidFill>
                          <a:latin typeface="Roboto Mono"/>
                          <a:ea typeface="Roboto Mono"/>
                          <a:cs typeface="Roboto Mono"/>
                          <a:sym typeface="Roboto Mono"/>
                        </a:rPr>
                        <a:t>0.6055</a:t>
                      </a:r>
                      <a:endParaRPr>
                        <a:solidFill>
                          <a:schemeClr val="dk1"/>
                        </a:solidFill>
                        <a:latin typeface="Roboto Mono"/>
                        <a:ea typeface="Roboto Mono"/>
                        <a:cs typeface="Roboto Mono"/>
                        <a:sym typeface="Roboto Mon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70000"/>
                        </a:lnSpc>
                        <a:spcBef>
                          <a:spcPts val="0"/>
                        </a:spcBef>
                        <a:spcAft>
                          <a:spcPts val="0"/>
                        </a:spcAft>
                        <a:buNone/>
                      </a:pPr>
                      <a:r>
                        <a:rPr lang="vi">
                          <a:solidFill>
                            <a:schemeClr val="dk1"/>
                          </a:solidFill>
                          <a:latin typeface="Roboto Mono"/>
                          <a:ea typeface="Roboto Mono"/>
                          <a:cs typeface="Roboto Mono"/>
                          <a:sym typeface="Roboto Mono"/>
                        </a:rPr>
                        <a:t>0.7052</a:t>
                      </a:r>
                      <a:endParaRPr>
                        <a:solidFill>
                          <a:schemeClr val="dk1"/>
                        </a:solidFill>
                        <a:latin typeface="Roboto Mono"/>
                        <a:ea typeface="Roboto Mono"/>
                        <a:cs typeface="Roboto Mono"/>
                        <a:sym typeface="Roboto Mon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lnSpc>
                          <a:spcPct val="170000"/>
                        </a:lnSpc>
                        <a:spcBef>
                          <a:spcPts val="0"/>
                        </a:spcBef>
                        <a:spcAft>
                          <a:spcPts val="0"/>
                        </a:spcAft>
                        <a:buNone/>
                      </a:pPr>
                      <a:r>
                        <a:rPr lang="vi">
                          <a:solidFill>
                            <a:schemeClr val="dk1"/>
                          </a:solidFill>
                          <a:latin typeface="Roboto Mono"/>
                          <a:ea typeface="Roboto Mono"/>
                          <a:cs typeface="Roboto Mono"/>
                          <a:sym typeface="Roboto Mono"/>
                        </a:rPr>
                        <a:t>0.3524</a:t>
                      </a:r>
                      <a:endParaRPr>
                        <a:solidFill>
                          <a:schemeClr val="dk1"/>
                        </a:solidFill>
                        <a:latin typeface="Roboto Mono"/>
                        <a:ea typeface="Roboto Mono"/>
                        <a:cs typeface="Roboto Mono"/>
                        <a:sym typeface="Roboto Mon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0.5872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0.6377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70150">
                <a:tc>
                  <a:txBody>
                    <a:bodyPr/>
                    <a:lstStyle/>
                    <a:p>
                      <a:pPr indent="0" lvl="0" marL="0" rtl="0" algn="l">
                        <a:spcBef>
                          <a:spcPts val="0"/>
                        </a:spcBef>
                        <a:spcAft>
                          <a:spcPts val="0"/>
                        </a:spcAft>
                        <a:buNone/>
                      </a:pPr>
                      <a:r>
                        <a:rPr lang="vi">
                          <a:solidFill>
                            <a:srgbClr val="FFFFFF"/>
                          </a:solidFill>
                          <a:highlight>
                            <a:srgbClr val="202124"/>
                          </a:highlight>
                        </a:rPr>
                        <a:t>Original mAP50-95</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vi">
                          <a:solidFill>
                            <a:srgbClr val="FFFFFF"/>
                          </a:solidFill>
                          <a:highlight>
                            <a:srgbClr val="202124"/>
                          </a:highlight>
                        </a:rPr>
                        <a:t>0.3573</a:t>
                      </a:r>
                      <a:endParaRPr>
                        <a:solidFill>
                          <a:srgbClr val="FFFFFF"/>
                        </a:solidFill>
                        <a:highlight>
                          <a:srgbClr val="202124"/>
                        </a:highlight>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highlight>
                            <a:srgbClr val="202124"/>
                          </a:highlight>
                        </a:rPr>
                        <a:t>0.3846</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highlight>
                            <a:srgbClr val="202124"/>
                          </a:highlight>
                        </a:rPr>
                        <a:t>0.5012</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highlight>
                            <a:srgbClr val="202124"/>
                          </a:highlight>
                        </a:rPr>
                        <a:t>0.2815</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0.3045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0.4921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50275">
                <a:tc>
                  <a:txBody>
                    <a:bodyPr/>
                    <a:lstStyle/>
                    <a:p>
                      <a:pPr indent="0" lvl="0" marL="0" rtl="0" algn="l">
                        <a:spcBef>
                          <a:spcPts val="0"/>
                        </a:spcBef>
                        <a:spcAft>
                          <a:spcPts val="0"/>
                        </a:spcAft>
                        <a:buNone/>
                      </a:pPr>
                      <a:r>
                        <a:rPr lang="vi">
                          <a:solidFill>
                            <a:srgbClr val="FFFFFF"/>
                          </a:solidFill>
                          <a:highlight>
                            <a:srgbClr val="202124"/>
                          </a:highlight>
                        </a:rPr>
                        <a:t>Finetuned mAP50</a:t>
                      </a:r>
                      <a:endParaRPr>
                        <a:solidFill>
                          <a:srgbClr val="FFFFFF"/>
                        </a:solidFill>
                        <a:highlight>
                          <a:srgbClr val="202124"/>
                        </a:highlight>
                      </a:endParaRPr>
                    </a:p>
                  </a:txBody>
                  <a:tcPr marT="91425" marB="91425" marR="91425" marL="91425"/>
                </a:tc>
                <a:tc>
                  <a:txBody>
                    <a:bodyPr/>
                    <a:lstStyle/>
                    <a:p>
                      <a:pPr indent="0" lvl="0" marL="0" rtl="0" algn="l">
                        <a:spcBef>
                          <a:spcPts val="0"/>
                        </a:spcBef>
                        <a:spcAft>
                          <a:spcPts val="0"/>
                        </a:spcAft>
                        <a:buNone/>
                      </a:pPr>
                      <a:r>
                        <a:rPr lang="vi">
                          <a:solidFill>
                            <a:srgbClr val="FFFFFF"/>
                          </a:solidFill>
                          <a:highlight>
                            <a:srgbClr val="202124"/>
                          </a:highlight>
                        </a:rPr>
                        <a:t>0.4589</a:t>
                      </a:r>
                      <a:endParaRPr>
                        <a:solidFill>
                          <a:srgbClr val="FFFFFF"/>
                        </a:solidFill>
                        <a:highlight>
                          <a:srgbClr val="202124"/>
                        </a:highlight>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highlight>
                            <a:srgbClr val="202124"/>
                          </a:highlight>
                        </a:rPr>
                        <a:t>0.6273</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highlight>
                            <a:srgbClr val="202124"/>
                          </a:highlight>
                        </a:rPr>
                        <a:t>0.7743</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highlight>
                            <a:srgbClr val="202124"/>
                          </a:highlight>
                        </a:rPr>
                        <a:t>0.3860</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0.6056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0.7003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46800">
                <a:tc>
                  <a:txBody>
                    <a:bodyPr/>
                    <a:lstStyle/>
                    <a:p>
                      <a:pPr indent="0" lvl="0" marL="0" rtl="0" algn="l">
                        <a:spcBef>
                          <a:spcPts val="0"/>
                        </a:spcBef>
                        <a:spcAft>
                          <a:spcPts val="0"/>
                        </a:spcAft>
                        <a:buNone/>
                      </a:pPr>
                      <a:r>
                        <a:rPr lang="vi">
                          <a:solidFill>
                            <a:srgbClr val="FFFFFF"/>
                          </a:solidFill>
                          <a:highlight>
                            <a:srgbClr val="202124"/>
                          </a:highlight>
                        </a:rPr>
                        <a:t>Finetuned mAP50-95</a:t>
                      </a:r>
                      <a:endParaRPr>
                        <a:solidFill>
                          <a:srgbClr val="FFFFFF"/>
                        </a:solidFill>
                        <a:highlight>
                          <a:srgbClr val="202124"/>
                        </a:highlight>
                      </a:endParaRPr>
                    </a:p>
                  </a:txBody>
                  <a:tcPr marT="91425" marB="91425" marR="91425" marL="91425"/>
                </a:tc>
                <a:tc>
                  <a:txBody>
                    <a:bodyPr/>
                    <a:lstStyle/>
                    <a:p>
                      <a:pPr indent="0" lvl="0" marL="0" rtl="0" algn="l">
                        <a:spcBef>
                          <a:spcPts val="0"/>
                        </a:spcBef>
                        <a:spcAft>
                          <a:spcPts val="0"/>
                        </a:spcAft>
                        <a:buNone/>
                      </a:pPr>
                      <a:r>
                        <a:rPr lang="vi">
                          <a:solidFill>
                            <a:srgbClr val="FFFFFF"/>
                          </a:solidFill>
                          <a:highlight>
                            <a:srgbClr val="202124"/>
                          </a:highlight>
                        </a:rPr>
                        <a:t>0.3715</a:t>
                      </a:r>
                      <a:endParaRPr>
                        <a:solidFill>
                          <a:srgbClr val="FFFFFF"/>
                        </a:solidFill>
                        <a:highlight>
                          <a:srgbClr val="202124"/>
                        </a:highlight>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highlight>
                            <a:srgbClr val="202124"/>
                          </a:highlight>
                        </a:rPr>
                        <a:t>0.4114</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highlight>
                            <a:srgbClr val="202124"/>
                          </a:highlight>
                        </a:rPr>
                        <a:t>0.5240</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vi">
                          <a:solidFill>
                            <a:schemeClr val="dk1"/>
                          </a:solidFill>
                          <a:highlight>
                            <a:srgbClr val="202124"/>
                          </a:highlight>
                        </a:rPr>
                        <a:t>0.3022</a:t>
                      </a:r>
                      <a:endParaRPr>
                        <a:solidFill>
                          <a:schemeClr val="dk1"/>
                        </a:solidFill>
                        <a:highlight>
                          <a:srgbClr val="202124"/>
                        </a:highligh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0.3270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vi">
                          <a:solidFill>
                            <a:schemeClr val="dk1"/>
                          </a:solidFill>
                        </a:rPr>
                        <a:t>0.5338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Experiments and Results</a:t>
            </a:r>
            <a:endParaRPr/>
          </a:p>
        </p:txBody>
      </p:sp>
      <p:cxnSp>
        <p:nvCxnSpPr>
          <p:cNvPr id="102" name="Google Shape;102;p19"/>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sp>
        <p:nvSpPr>
          <p:cNvPr id="103" name="Google Shape;103;p19"/>
          <p:cNvSpPr txBox="1"/>
          <p:nvPr/>
        </p:nvSpPr>
        <p:spPr>
          <a:xfrm>
            <a:off x="219000" y="1334975"/>
            <a:ext cx="43530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vi" sz="2000">
                <a:solidFill>
                  <a:schemeClr val="lt2"/>
                </a:solidFill>
              </a:rPr>
              <a:t>Detrecton2</a:t>
            </a:r>
            <a:endParaRPr sz="1600">
              <a:solidFill>
                <a:schemeClr val="lt2"/>
              </a:solidFill>
            </a:endParaRPr>
          </a:p>
        </p:txBody>
      </p:sp>
      <p:pic>
        <p:nvPicPr>
          <p:cNvPr id="104" name="Google Shape;104;p19"/>
          <p:cNvPicPr preferRelativeResize="0"/>
          <p:nvPr/>
        </p:nvPicPr>
        <p:blipFill>
          <a:blip r:embed="rId3">
            <a:alphaModFix/>
          </a:blip>
          <a:stretch>
            <a:fillRect/>
          </a:stretch>
        </p:blipFill>
        <p:spPr>
          <a:xfrm>
            <a:off x="621200" y="1941450"/>
            <a:ext cx="3793074" cy="2576850"/>
          </a:xfrm>
          <a:prstGeom prst="rect">
            <a:avLst/>
          </a:prstGeom>
          <a:noFill/>
          <a:ln>
            <a:noFill/>
          </a:ln>
        </p:spPr>
      </p:pic>
      <p:pic>
        <p:nvPicPr>
          <p:cNvPr id="105" name="Google Shape;105;p19"/>
          <p:cNvPicPr preferRelativeResize="0"/>
          <p:nvPr/>
        </p:nvPicPr>
        <p:blipFill>
          <a:blip r:embed="rId4">
            <a:alphaModFix/>
          </a:blip>
          <a:stretch>
            <a:fillRect/>
          </a:stretch>
        </p:blipFill>
        <p:spPr>
          <a:xfrm>
            <a:off x="5063675" y="1091275"/>
            <a:ext cx="3379227" cy="1959899"/>
          </a:xfrm>
          <a:prstGeom prst="rect">
            <a:avLst/>
          </a:prstGeom>
          <a:noFill/>
          <a:ln>
            <a:noFill/>
          </a:ln>
        </p:spPr>
      </p:pic>
      <p:pic>
        <p:nvPicPr>
          <p:cNvPr id="106" name="Google Shape;106;p19"/>
          <p:cNvPicPr preferRelativeResize="0"/>
          <p:nvPr/>
        </p:nvPicPr>
        <p:blipFill>
          <a:blip r:embed="rId5">
            <a:alphaModFix/>
          </a:blip>
          <a:stretch>
            <a:fillRect/>
          </a:stretch>
        </p:blipFill>
        <p:spPr>
          <a:xfrm>
            <a:off x="5066800" y="3054950"/>
            <a:ext cx="3372970" cy="19598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Experiments and Results</a:t>
            </a:r>
            <a:endParaRPr/>
          </a:p>
        </p:txBody>
      </p:sp>
      <p:cxnSp>
        <p:nvCxnSpPr>
          <p:cNvPr id="112" name="Google Shape;112;p20"/>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sp>
        <p:nvSpPr>
          <p:cNvPr id="113" name="Google Shape;113;p20"/>
          <p:cNvSpPr txBox="1"/>
          <p:nvPr/>
        </p:nvSpPr>
        <p:spPr>
          <a:xfrm>
            <a:off x="219000" y="1334975"/>
            <a:ext cx="43530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vi" sz="2000">
                <a:solidFill>
                  <a:schemeClr val="lt2"/>
                </a:solidFill>
              </a:rPr>
              <a:t>Detrecton2</a:t>
            </a:r>
            <a:endParaRPr sz="1600">
              <a:solidFill>
                <a:schemeClr val="lt2"/>
              </a:solidFill>
            </a:endParaRPr>
          </a:p>
        </p:txBody>
      </p:sp>
      <p:pic>
        <p:nvPicPr>
          <p:cNvPr id="114" name="Google Shape;114;p20"/>
          <p:cNvPicPr preferRelativeResize="0"/>
          <p:nvPr/>
        </p:nvPicPr>
        <p:blipFill>
          <a:blip r:embed="rId3">
            <a:alphaModFix/>
          </a:blip>
          <a:stretch>
            <a:fillRect/>
          </a:stretch>
        </p:blipFill>
        <p:spPr>
          <a:xfrm>
            <a:off x="2264475" y="1168487"/>
            <a:ext cx="5905151" cy="3933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Experiments and Results</a:t>
            </a:r>
            <a:endParaRPr/>
          </a:p>
        </p:txBody>
      </p:sp>
      <p:cxnSp>
        <p:nvCxnSpPr>
          <p:cNvPr id="120" name="Google Shape;120;p21"/>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pic>
        <p:nvPicPr>
          <p:cNvPr id="121" name="Google Shape;121;p21"/>
          <p:cNvPicPr preferRelativeResize="0"/>
          <p:nvPr/>
        </p:nvPicPr>
        <p:blipFill>
          <a:blip r:embed="rId3">
            <a:alphaModFix/>
          </a:blip>
          <a:stretch>
            <a:fillRect/>
          </a:stretch>
        </p:blipFill>
        <p:spPr>
          <a:xfrm>
            <a:off x="205363" y="2178400"/>
            <a:ext cx="4293549" cy="1623600"/>
          </a:xfrm>
          <a:prstGeom prst="rect">
            <a:avLst/>
          </a:prstGeom>
          <a:noFill/>
          <a:ln>
            <a:noFill/>
          </a:ln>
        </p:spPr>
      </p:pic>
      <p:sp>
        <p:nvSpPr>
          <p:cNvPr id="122" name="Google Shape;122;p21"/>
          <p:cNvSpPr txBox="1"/>
          <p:nvPr/>
        </p:nvSpPr>
        <p:spPr>
          <a:xfrm>
            <a:off x="218950" y="1448850"/>
            <a:ext cx="43530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vi" sz="2000">
                <a:solidFill>
                  <a:schemeClr val="lt2"/>
                </a:solidFill>
              </a:rPr>
              <a:t>Grounding</a:t>
            </a:r>
            <a:r>
              <a:rPr lang="vi" sz="2000">
                <a:solidFill>
                  <a:schemeClr val="lt2"/>
                </a:solidFill>
              </a:rPr>
              <a:t> DINO + SAM</a:t>
            </a:r>
            <a:endParaRPr sz="1600">
              <a:solidFill>
                <a:schemeClr val="lt2"/>
              </a:solidFill>
            </a:endParaRPr>
          </a:p>
        </p:txBody>
      </p:sp>
      <p:pic>
        <p:nvPicPr>
          <p:cNvPr id="123" name="Google Shape;123;p21"/>
          <p:cNvPicPr preferRelativeResize="0"/>
          <p:nvPr/>
        </p:nvPicPr>
        <p:blipFill>
          <a:blip r:embed="rId4">
            <a:alphaModFix/>
          </a:blip>
          <a:stretch>
            <a:fillRect/>
          </a:stretch>
        </p:blipFill>
        <p:spPr>
          <a:xfrm>
            <a:off x="4585638" y="1253371"/>
            <a:ext cx="4353001" cy="1667032"/>
          </a:xfrm>
          <a:prstGeom prst="rect">
            <a:avLst/>
          </a:prstGeom>
          <a:noFill/>
          <a:ln>
            <a:noFill/>
          </a:ln>
        </p:spPr>
      </p:pic>
      <p:pic>
        <p:nvPicPr>
          <p:cNvPr id="124" name="Google Shape;124;p21"/>
          <p:cNvPicPr preferRelativeResize="0"/>
          <p:nvPr/>
        </p:nvPicPr>
        <p:blipFill>
          <a:blip r:embed="rId5">
            <a:alphaModFix/>
          </a:blip>
          <a:stretch>
            <a:fillRect/>
          </a:stretch>
        </p:blipFill>
        <p:spPr>
          <a:xfrm>
            <a:off x="4585638" y="3030905"/>
            <a:ext cx="4353000" cy="166624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Experiments and Results</a:t>
            </a:r>
            <a:endParaRPr/>
          </a:p>
        </p:txBody>
      </p:sp>
      <p:cxnSp>
        <p:nvCxnSpPr>
          <p:cNvPr id="130" name="Google Shape;130;p22"/>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pic>
        <p:nvPicPr>
          <p:cNvPr id="131" name="Google Shape;131;p22"/>
          <p:cNvPicPr preferRelativeResize="0"/>
          <p:nvPr/>
        </p:nvPicPr>
        <p:blipFill>
          <a:blip r:embed="rId3">
            <a:alphaModFix/>
          </a:blip>
          <a:stretch>
            <a:fillRect/>
          </a:stretch>
        </p:blipFill>
        <p:spPr>
          <a:xfrm>
            <a:off x="303675" y="1739174"/>
            <a:ext cx="4419600" cy="2885652"/>
          </a:xfrm>
          <a:prstGeom prst="rect">
            <a:avLst/>
          </a:prstGeom>
          <a:noFill/>
          <a:ln>
            <a:noFill/>
          </a:ln>
        </p:spPr>
      </p:pic>
      <p:pic>
        <p:nvPicPr>
          <p:cNvPr id="132" name="Google Shape;132;p22"/>
          <p:cNvPicPr preferRelativeResize="0"/>
          <p:nvPr/>
        </p:nvPicPr>
        <p:blipFill>
          <a:blip r:embed="rId4">
            <a:alphaModFix/>
          </a:blip>
          <a:stretch>
            <a:fillRect/>
          </a:stretch>
        </p:blipFill>
        <p:spPr>
          <a:xfrm>
            <a:off x="5321350" y="3206824"/>
            <a:ext cx="3708726" cy="1726549"/>
          </a:xfrm>
          <a:prstGeom prst="rect">
            <a:avLst/>
          </a:prstGeom>
          <a:noFill/>
          <a:ln>
            <a:noFill/>
          </a:ln>
        </p:spPr>
      </p:pic>
      <p:pic>
        <p:nvPicPr>
          <p:cNvPr id="133" name="Google Shape;133;p22"/>
          <p:cNvPicPr preferRelativeResize="0"/>
          <p:nvPr/>
        </p:nvPicPr>
        <p:blipFill>
          <a:blip r:embed="rId5">
            <a:alphaModFix/>
          </a:blip>
          <a:stretch>
            <a:fillRect/>
          </a:stretch>
        </p:blipFill>
        <p:spPr>
          <a:xfrm>
            <a:off x="5388813" y="1152850"/>
            <a:ext cx="1986517" cy="1940049"/>
          </a:xfrm>
          <a:prstGeom prst="rect">
            <a:avLst/>
          </a:prstGeom>
          <a:noFill/>
          <a:ln>
            <a:noFill/>
          </a:ln>
        </p:spPr>
      </p:pic>
      <p:pic>
        <p:nvPicPr>
          <p:cNvPr id="134" name="Google Shape;134;p22"/>
          <p:cNvPicPr preferRelativeResize="0"/>
          <p:nvPr/>
        </p:nvPicPr>
        <p:blipFill>
          <a:blip r:embed="rId6">
            <a:alphaModFix/>
          </a:blip>
          <a:stretch>
            <a:fillRect/>
          </a:stretch>
        </p:blipFill>
        <p:spPr>
          <a:xfrm>
            <a:off x="7375338" y="1152850"/>
            <a:ext cx="1548766" cy="1940050"/>
          </a:xfrm>
          <a:prstGeom prst="rect">
            <a:avLst/>
          </a:prstGeom>
          <a:noFill/>
          <a:ln>
            <a:noFill/>
          </a:ln>
        </p:spPr>
      </p:pic>
      <p:sp>
        <p:nvSpPr>
          <p:cNvPr id="135" name="Google Shape;135;p22"/>
          <p:cNvSpPr txBox="1"/>
          <p:nvPr/>
        </p:nvSpPr>
        <p:spPr>
          <a:xfrm>
            <a:off x="311700" y="1246575"/>
            <a:ext cx="42603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vi" sz="2000">
                <a:solidFill>
                  <a:schemeClr val="lt2"/>
                </a:solidFill>
              </a:rPr>
              <a:t>YOLOv8: Detection + Segmentation</a:t>
            </a:r>
            <a:endParaRPr sz="1600">
              <a:solidFill>
                <a:schemeClr val="l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Experiments and Results</a:t>
            </a:r>
            <a:endParaRPr/>
          </a:p>
        </p:txBody>
      </p:sp>
      <p:cxnSp>
        <p:nvCxnSpPr>
          <p:cNvPr id="141" name="Google Shape;141;p23"/>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sp>
        <p:nvSpPr>
          <p:cNvPr id="142" name="Google Shape;142;p23"/>
          <p:cNvSpPr txBox="1"/>
          <p:nvPr/>
        </p:nvSpPr>
        <p:spPr>
          <a:xfrm>
            <a:off x="311700" y="1246575"/>
            <a:ext cx="42603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lang="vi" sz="2000">
                <a:solidFill>
                  <a:schemeClr val="lt2"/>
                </a:solidFill>
              </a:rPr>
              <a:t>Inpainting (Stable Diffusion):</a:t>
            </a:r>
            <a:endParaRPr sz="1600">
              <a:solidFill>
                <a:schemeClr val="lt2"/>
              </a:solidFill>
            </a:endParaRPr>
          </a:p>
        </p:txBody>
      </p:sp>
      <p:pic>
        <p:nvPicPr>
          <p:cNvPr id="143" name="Google Shape;143;p23"/>
          <p:cNvPicPr preferRelativeResize="0"/>
          <p:nvPr/>
        </p:nvPicPr>
        <p:blipFill>
          <a:blip r:embed="rId3">
            <a:alphaModFix/>
          </a:blip>
          <a:stretch>
            <a:fillRect/>
          </a:stretch>
        </p:blipFill>
        <p:spPr>
          <a:xfrm>
            <a:off x="65130" y="2325850"/>
            <a:ext cx="4169799" cy="1538300"/>
          </a:xfrm>
          <a:prstGeom prst="rect">
            <a:avLst/>
          </a:prstGeom>
          <a:noFill/>
          <a:ln>
            <a:noFill/>
          </a:ln>
        </p:spPr>
      </p:pic>
      <p:pic>
        <p:nvPicPr>
          <p:cNvPr id="144" name="Google Shape;144;p23"/>
          <p:cNvPicPr preferRelativeResize="0"/>
          <p:nvPr/>
        </p:nvPicPr>
        <p:blipFill>
          <a:blip r:embed="rId4">
            <a:alphaModFix/>
          </a:blip>
          <a:stretch>
            <a:fillRect/>
          </a:stretch>
        </p:blipFill>
        <p:spPr>
          <a:xfrm>
            <a:off x="4316331" y="1585973"/>
            <a:ext cx="4768102" cy="1354999"/>
          </a:xfrm>
          <a:prstGeom prst="rect">
            <a:avLst/>
          </a:prstGeom>
          <a:noFill/>
          <a:ln>
            <a:noFill/>
          </a:ln>
        </p:spPr>
      </p:pic>
      <p:pic>
        <p:nvPicPr>
          <p:cNvPr id="145" name="Google Shape;145;p23"/>
          <p:cNvPicPr preferRelativeResize="0"/>
          <p:nvPr/>
        </p:nvPicPr>
        <p:blipFill>
          <a:blip r:embed="rId5">
            <a:alphaModFix/>
          </a:blip>
          <a:stretch>
            <a:fillRect/>
          </a:stretch>
        </p:blipFill>
        <p:spPr>
          <a:xfrm>
            <a:off x="4316330" y="3210199"/>
            <a:ext cx="4768102" cy="15063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ctrTitle"/>
          </p:nvPr>
        </p:nvSpPr>
        <p:spPr>
          <a:xfrm>
            <a:off x="311700" y="225900"/>
            <a:ext cx="8520600" cy="861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vi"/>
              <a:t>Future Work</a:t>
            </a:r>
            <a:endParaRPr/>
          </a:p>
        </p:txBody>
      </p:sp>
      <p:cxnSp>
        <p:nvCxnSpPr>
          <p:cNvPr id="151" name="Google Shape;151;p24"/>
          <p:cNvCxnSpPr/>
          <p:nvPr/>
        </p:nvCxnSpPr>
        <p:spPr>
          <a:xfrm flipH="1" rot="10800000">
            <a:off x="303675" y="1091275"/>
            <a:ext cx="8542200" cy="15000"/>
          </a:xfrm>
          <a:prstGeom prst="straightConnector1">
            <a:avLst/>
          </a:prstGeom>
          <a:noFill/>
          <a:ln cap="flat" cmpd="sng" w="38100">
            <a:solidFill>
              <a:schemeClr val="dk1"/>
            </a:solidFill>
            <a:prstDash val="solid"/>
            <a:round/>
            <a:headEnd len="med" w="med" type="none"/>
            <a:tailEnd len="med" w="med" type="none"/>
          </a:ln>
        </p:spPr>
      </p:cxnSp>
      <p:sp>
        <p:nvSpPr>
          <p:cNvPr id="152" name="Google Shape;152;p24"/>
          <p:cNvSpPr txBox="1"/>
          <p:nvPr/>
        </p:nvSpPr>
        <p:spPr>
          <a:xfrm>
            <a:off x="303675" y="1219950"/>
            <a:ext cx="8542200" cy="3694200"/>
          </a:xfrm>
          <a:prstGeom prst="rect">
            <a:avLst/>
          </a:prstGeom>
          <a:noFill/>
          <a:ln>
            <a:noFill/>
          </a:ln>
        </p:spPr>
        <p:txBody>
          <a:bodyPr anchorCtr="0" anchor="t" bIns="91425" lIns="91425" spcFirstLastPara="1" rIns="91425" wrap="square" tIns="91425">
            <a:spAutoFit/>
          </a:bodyPr>
          <a:lstStyle/>
          <a:p>
            <a:pPr indent="-330200" lvl="0" marL="457200" rtl="0" algn="l">
              <a:lnSpc>
                <a:spcPct val="130000"/>
              </a:lnSpc>
              <a:spcBef>
                <a:spcPts val="0"/>
              </a:spcBef>
              <a:spcAft>
                <a:spcPts val="0"/>
              </a:spcAft>
              <a:buClr>
                <a:schemeClr val="lt2"/>
              </a:buClr>
              <a:buSzPts val="1600"/>
              <a:buChar char="-"/>
            </a:pPr>
            <a:r>
              <a:rPr lang="vi" sz="2000">
                <a:solidFill>
                  <a:schemeClr val="lt2"/>
                </a:solidFill>
              </a:rPr>
              <a:t>Experimenting with more models:</a:t>
            </a:r>
            <a:endParaRPr sz="2000">
              <a:solidFill>
                <a:schemeClr val="lt2"/>
              </a:solidFill>
            </a:endParaRPr>
          </a:p>
          <a:p>
            <a:pPr indent="-355600" lvl="0" marL="457200" rtl="0" algn="l">
              <a:lnSpc>
                <a:spcPct val="130000"/>
              </a:lnSpc>
              <a:spcBef>
                <a:spcPts val="0"/>
              </a:spcBef>
              <a:spcAft>
                <a:spcPts val="0"/>
              </a:spcAft>
              <a:buClr>
                <a:schemeClr val="lt2"/>
              </a:buClr>
              <a:buSzPts val="2000"/>
              <a:buChar char="+"/>
            </a:pPr>
            <a:r>
              <a:rPr lang="vi" sz="2000">
                <a:solidFill>
                  <a:schemeClr val="lt2"/>
                </a:solidFill>
              </a:rPr>
              <a:t>Object Detection + Object Segmentation: PaliGemma (Google), Detectron2, GoogleOwlv2, …</a:t>
            </a:r>
            <a:endParaRPr sz="2000">
              <a:solidFill>
                <a:schemeClr val="lt2"/>
              </a:solidFill>
            </a:endParaRPr>
          </a:p>
          <a:p>
            <a:pPr indent="-355600" lvl="0" marL="457200" rtl="0" algn="l">
              <a:lnSpc>
                <a:spcPct val="130000"/>
              </a:lnSpc>
              <a:spcBef>
                <a:spcPts val="0"/>
              </a:spcBef>
              <a:spcAft>
                <a:spcPts val="0"/>
              </a:spcAft>
              <a:buClr>
                <a:schemeClr val="lt2"/>
              </a:buClr>
              <a:buSzPts val="2000"/>
              <a:buChar char="+"/>
            </a:pPr>
            <a:r>
              <a:rPr lang="vi" sz="2000">
                <a:solidFill>
                  <a:schemeClr val="lt2"/>
                </a:solidFill>
              </a:rPr>
              <a:t>Inpainting Model: MI-GAN, Object Clear, Lama Model, FLUX, ..</a:t>
            </a:r>
            <a:endParaRPr sz="2000">
              <a:solidFill>
                <a:schemeClr val="lt2"/>
              </a:solidFill>
            </a:endParaRPr>
          </a:p>
          <a:p>
            <a:pPr indent="0" lvl="0" marL="0" rtl="0" algn="l">
              <a:lnSpc>
                <a:spcPct val="130000"/>
              </a:lnSpc>
              <a:spcBef>
                <a:spcPts val="0"/>
              </a:spcBef>
              <a:spcAft>
                <a:spcPts val="0"/>
              </a:spcAft>
              <a:buNone/>
            </a:pPr>
            <a:r>
              <a:t/>
            </a:r>
            <a:endParaRPr sz="2000">
              <a:solidFill>
                <a:schemeClr val="lt2"/>
              </a:solidFill>
            </a:endParaRPr>
          </a:p>
          <a:p>
            <a:pPr indent="-355600" lvl="0" marL="457200" rtl="0" algn="l">
              <a:lnSpc>
                <a:spcPct val="130000"/>
              </a:lnSpc>
              <a:spcBef>
                <a:spcPts val="0"/>
              </a:spcBef>
              <a:spcAft>
                <a:spcPts val="0"/>
              </a:spcAft>
              <a:buClr>
                <a:schemeClr val="lt2"/>
              </a:buClr>
              <a:buSzPts val="2000"/>
              <a:buChar char="-"/>
            </a:pPr>
            <a:r>
              <a:rPr lang="vi" sz="2000">
                <a:solidFill>
                  <a:schemeClr val="lt2"/>
                </a:solidFill>
              </a:rPr>
              <a:t>Another Logic Flow:</a:t>
            </a:r>
            <a:endParaRPr sz="2000">
              <a:solidFill>
                <a:schemeClr val="lt2"/>
              </a:solidFill>
            </a:endParaRPr>
          </a:p>
          <a:p>
            <a:pPr indent="0" lvl="0" marL="457200" rtl="0" algn="l">
              <a:lnSpc>
                <a:spcPct val="130000"/>
              </a:lnSpc>
              <a:spcBef>
                <a:spcPts val="0"/>
              </a:spcBef>
              <a:spcAft>
                <a:spcPts val="0"/>
              </a:spcAft>
              <a:buNone/>
            </a:pPr>
            <a:r>
              <a:rPr lang="vi" sz="2000">
                <a:solidFill>
                  <a:schemeClr val="lt2"/>
                </a:solidFill>
              </a:rPr>
              <a:t>Input → Detection/Segmentation Model → Bounding Box → Image Understanding Model → Large Language Model → Decision Logic → Inpainting Model → Remove the unwanted bounding box</a:t>
            </a:r>
            <a:endParaRPr sz="2000">
              <a:solidFill>
                <a:schemeClr val="l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